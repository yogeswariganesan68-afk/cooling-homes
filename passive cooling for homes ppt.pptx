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0"/>
  </p:notesMasterIdLst>
  <p:sldIdLst>
    <p:sldId id="257" r:id="rId2"/>
    <p:sldId id="259" r:id="rId3"/>
    <p:sldId id="260" r:id="rId4"/>
    <p:sldId id="266" r:id="rId5"/>
    <p:sldId id="261" r:id="rId6"/>
    <p:sldId id="267" r:id="rId7"/>
    <p:sldId id="270" r:id="rId8"/>
    <p:sldId id="27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5" autoAdjust="0"/>
    <p:restoredTop sz="94602"/>
  </p:normalViewPr>
  <p:slideViewPr>
    <p:cSldViewPr snapToGrid="0" snapToObjects="1">
      <p:cViewPr varScale="1">
        <p:scale>
          <a:sx n="81" d="100"/>
          <a:sy n="81" d="100"/>
        </p:scale>
        <p:origin x="59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Regular"/>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Regular"/>
              </a:defRPr>
            </a:lvl1pPr>
          </a:lstStyle>
          <a:p>
            <a:fld id="{0239D73C-AF14-7643-8BC7-209F4FB10DDF}" type="datetimeFigureOut">
              <a:rPr lang="en-US" smtClean="0"/>
              <a:t>7/28/2026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Regular"/>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Regular"/>
              </a:defRPr>
            </a:lvl1pPr>
          </a:lstStyle>
          <a:p>
            <a:fld id="{F52A25F9-16D3-E64A-8639-7B020C319E7B}"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Regular"/>
        <a:ea typeface="+mn-ea"/>
        <a:cs typeface="+mn-cs"/>
      </a:defRPr>
    </a:lvl1pPr>
    <a:lvl2pPr marL="457200" algn="l" defTabSz="914400" rtl="0" eaLnBrk="1" latinLnBrk="0" hangingPunct="1">
      <a:defRPr sz="1200" b="0" i="0" kern="1200">
        <a:solidFill>
          <a:schemeClr val="tx1"/>
        </a:solidFill>
        <a:latin typeface="Arial Regular"/>
        <a:ea typeface="+mn-ea"/>
        <a:cs typeface="+mn-cs"/>
      </a:defRPr>
    </a:lvl2pPr>
    <a:lvl3pPr marL="914400" algn="l" defTabSz="914400" rtl="0" eaLnBrk="1" latinLnBrk="0" hangingPunct="1">
      <a:defRPr sz="1200" b="0" i="0" kern="1200">
        <a:solidFill>
          <a:schemeClr val="tx1"/>
        </a:solidFill>
        <a:latin typeface="Arial Regular"/>
        <a:ea typeface="+mn-ea"/>
        <a:cs typeface="+mn-cs"/>
      </a:defRPr>
    </a:lvl3pPr>
    <a:lvl4pPr marL="1371600" algn="l" defTabSz="914400" rtl="0" eaLnBrk="1" latinLnBrk="0" hangingPunct="1">
      <a:defRPr sz="1200" b="0" i="0" kern="1200">
        <a:solidFill>
          <a:schemeClr val="tx1"/>
        </a:solidFill>
        <a:latin typeface="Arial Regular"/>
        <a:ea typeface="+mn-ea"/>
        <a:cs typeface="+mn-cs"/>
      </a:defRPr>
    </a:lvl4pPr>
    <a:lvl5pPr marL="1828800" algn="l" defTabSz="914400" rtl="0" eaLnBrk="1" latinLnBrk="0" hangingPunct="1">
      <a:defRPr sz="1200" b="0" i="0" kern="1200">
        <a:solidFill>
          <a:schemeClr val="tx1"/>
        </a:solidFill>
        <a:latin typeface="Arial Regular"/>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5"/>
          <p:cNvSpPr>
            <a:spLocks noGrp="1"/>
          </p:cNvSpPr>
          <p:nvPr>
            <p:ph type="body" sz="quarter" idx="10" hasCustomPrompt="1"/>
          </p:nvPr>
        </p:nvSpPr>
        <p:spPr>
          <a:xfrm>
            <a:off x="658368" y="3968496"/>
            <a:ext cx="6638544" cy="1650381"/>
          </a:xfrm>
          <a:prstGeom prst="rect">
            <a:avLst/>
          </a:prstGeom>
        </p:spPr>
        <p:txBody>
          <a:bodyPr lIns="0">
            <a:noAutofit/>
          </a:bodyPr>
          <a:lstStyle>
            <a:lvl1pPr marL="0" indent="0">
              <a:buNone/>
              <a:defRPr sz="2800" b="0" i="0">
                <a:solidFill>
                  <a:schemeClr val="bg1"/>
                </a:solidFill>
                <a:latin typeface="Georgia" panose="02040502050405020303" pitchFamily="18" charset="0"/>
                <a:ea typeface="Georgia" panose="02040502050405020303" pitchFamily="18" charset="0"/>
                <a:cs typeface="Georgia" panose="02040502050405020303" pitchFamily="18" charset="0"/>
              </a:defRPr>
            </a:lvl1pPr>
          </a:lstStyle>
          <a:p>
            <a:pPr lvl="0"/>
            <a:r>
              <a:rPr lang="en-US" dirty="0"/>
              <a:t>Sub-topic</a:t>
            </a:r>
          </a:p>
        </p:txBody>
      </p:sp>
      <p:sp>
        <p:nvSpPr>
          <p:cNvPr id="14" name="Title 1"/>
          <p:cNvSpPr>
            <a:spLocks noGrp="1"/>
          </p:cNvSpPr>
          <p:nvPr>
            <p:ph type="ctrTitle" hasCustomPrompt="1"/>
          </p:nvPr>
        </p:nvSpPr>
        <p:spPr>
          <a:xfrm>
            <a:off x="658368" y="1490472"/>
            <a:ext cx="6638544" cy="2386584"/>
          </a:xfrm>
          <a:prstGeom prst="rect">
            <a:avLst/>
          </a:prstGeom>
          <a:ln>
            <a:noFill/>
          </a:ln>
        </p:spPr>
        <p:txBody>
          <a:bodyPr lIns="0" anchor="b">
            <a:noAutofit/>
          </a:bodyPr>
          <a:lstStyle>
            <a:lvl1pPr algn="l">
              <a:lnSpc>
                <a:spcPts val="5800"/>
              </a:lnSpc>
              <a:defRPr sz="6000" b="1" i="0" cap="all" baseline="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Presentation</a:t>
            </a:r>
            <a:br>
              <a:rPr lang="en-US" dirty="0"/>
            </a:br>
            <a:r>
              <a:rPr lang="en-US" dirty="0"/>
              <a:t>Title</a:t>
            </a:r>
          </a:p>
        </p:txBody>
      </p:sp>
      <p:pic>
        <p:nvPicPr>
          <p:cNvPr id="8" name="Picture 7" descr="University at Buffalo, The State University of New York logo"/>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0400" y="6041226"/>
            <a:ext cx="4800600" cy="35602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658368" y="1490663"/>
            <a:ext cx="6638544" cy="2387600"/>
          </a:xfrm>
          <a:prstGeom prst="rect">
            <a:avLst/>
          </a:prstGeom>
          <a:ln>
            <a:noFill/>
          </a:ln>
        </p:spPr>
        <p:txBody>
          <a:bodyPr lIns="0" anchor="b">
            <a:noAutofit/>
          </a:bodyPr>
          <a:lstStyle>
            <a:lvl1pPr algn="l">
              <a:lnSpc>
                <a:spcPts val="5800"/>
              </a:lnSpc>
              <a:defRPr sz="6000" b="1" i="0" cap="all" baseline="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DIVIDER SLIDE</a:t>
            </a:r>
          </a:p>
        </p:txBody>
      </p:sp>
      <p:sp>
        <p:nvSpPr>
          <p:cNvPr id="6" name="Subtitle 2"/>
          <p:cNvSpPr>
            <a:spLocks noGrp="1"/>
          </p:cNvSpPr>
          <p:nvPr>
            <p:ph type="subTitle" idx="1" hasCustomPrompt="1"/>
          </p:nvPr>
        </p:nvSpPr>
        <p:spPr>
          <a:xfrm>
            <a:off x="658368" y="3970337"/>
            <a:ext cx="6638544" cy="2212976"/>
          </a:xfrm>
          <a:prstGeom prst="rect">
            <a:avLst/>
          </a:prstGeom>
          <a:ln>
            <a:noFill/>
          </a:ln>
        </p:spPr>
        <p:txBody>
          <a:bodyPr lIns="0">
            <a:noAutofit/>
          </a:bodyPr>
          <a:lstStyle>
            <a:lvl1pPr marL="0" indent="0" algn="l">
              <a:buNone/>
              <a:defRPr sz="2800" b="0" baseline="0">
                <a:solidFill>
                  <a:schemeClr val="bg1"/>
                </a:solidFill>
                <a:latin typeface="Georgia" panose="02040502050405020303" pitchFamily="18" charset="0"/>
                <a:ea typeface="Georgia" panose="02040502050405020303" pitchFamily="18" charset="0"/>
                <a:cs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a:t>
            </a:r>
          </a:p>
        </p:txBody>
      </p:sp>
      <p:pic>
        <p:nvPicPr>
          <p:cNvPr id="7" name="Picture 6" descr="University at Buffalo, The State University of New York logo"/>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5600" y="321146"/>
            <a:ext cx="4800600" cy="35602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66928" y="1499616"/>
            <a:ext cx="6951472" cy="590931"/>
          </a:xfrm>
        </p:spPr>
        <p:txBody>
          <a:bodyPr/>
          <a:lstStyle/>
          <a:p>
            <a:r>
              <a:rPr lang="en-US" dirty="0"/>
              <a:t>Click to edit Master title style</a:t>
            </a:r>
          </a:p>
        </p:txBody>
      </p:sp>
      <p:sp>
        <p:nvSpPr>
          <p:cNvPr id="3" name="Content Placeholder 2"/>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0"/>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a:xfrm>
            <a:off x="566928" y="1499616"/>
            <a:ext cx="6951472" cy="590931"/>
          </a:xfrm>
        </p:spPr>
        <p:txBody>
          <a:bodyPr/>
          <a:lstStyle/>
          <a:p>
            <a:r>
              <a:rPr lang="en-US" dirty="0"/>
              <a:t>Click to edit Master title style</a:t>
            </a:r>
          </a:p>
        </p:txBody>
      </p:sp>
      <p:sp>
        <p:nvSpPr>
          <p:cNvPr id="3" name="Content Placeholder 2"/>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0"/>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itle and Double Content">
    <p:spTree>
      <p:nvGrpSpPr>
        <p:cNvPr id="1" name=""/>
        <p:cNvGrpSpPr/>
        <p:nvPr/>
      </p:nvGrpSpPr>
      <p:grpSpPr>
        <a:xfrm>
          <a:off x="0" y="0"/>
          <a:ext cx="0" cy="0"/>
          <a:chOff x="0" y="0"/>
          <a:chExt cx="0" cy="0"/>
        </a:xfrm>
      </p:grpSpPr>
      <p:sp>
        <p:nvSpPr>
          <p:cNvPr id="2" name="Title 1"/>
          <p:cNvSpPr>
            <a:spLocks noGrp="1"/>
          </p:cNvSpPr>
          <p:nvPr>
            <p:ph type="title"/>
          </p:nvPr>
        </p:nvSpPr>
        <p:spPr>
          <a:xfrm>
            <a:off x="566928" y="1499616"/>
            <a:ext cx="10515600" cy="590931"/>
          </a:xfrm>
        </p:spPr>
        <p:txBody>
          <a:bodyPr/>
          <a:lstStyle/>
          <a:p>
            <a:r>
              <a:rPr lang="en-US"/>
              <a:t>Click to edit Master title style</a:t>
            </a:r>
          </a:p>
        </p:txBody>
      </p:sp>
      <p:sp>
        <p:nvSpPr>
          <p:cNvPr id="3" name="Content Placeholder 2"/>
          <p:cNvSpPr>
            <a:spLocks noGrp="1"/>
          </p:cNvSpPr>
          <p:nvPr>
            <p:ph sz="half" idx="1"/>
          </p:nvPr>
        </p:nvSpPr>
        <p:spPr>
          <a:xfrm>
            <a:off x="566928" y="2185416"/>
            <a:ext cx="4500372" cy="39486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0200" y="2185416"/>
            <a:ext cx="4498848" cy="395020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0"/>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928" y="1499616"/>
            <a:ext cx="10515600" cy="590931"/>
          </a:xfrm>
        </p:spPr>
        <p:txBody>
          <a:bodyPr>
            <a:spAutoFit/>
          </a:bodyPr>
          <a:lstStyle/>
          <a:p>
            <a:r>
              <a:rPr lang="en-US" dirty="0"/>
              <a:t>Click to edit Master title style</a:t>
            </a:r>
          </a:p>
        </p:txBody>
      </p:sp>
      <p:sp>
        <p:nvSpPr>
          <p:cNvPr id="3" name="Text Placeholder 2"/>
          <p:cNvSpPr>
            <a:spLocks noGrp="1"/>
          </p:cNvSpPr>
          <p:nvPr>
            <p:ph type="body" idx="1" hasCustomPrompt="1"/>
          </p:nvPr>
        </p:nvSpPr>
        <p:spPr>
          <a:xfrm>
            <a:off x="566928" y="2185416"/>
            <a:ext cx="5138928" cy="393192"/>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566928" y="2593340"/>
            <a:ext cx="5140515" cy="3535744"/>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72200" y="2185416"/>
            <a:ext cx="5138928" cy="394980"/>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90800"/>
            <a:ext cx="5138928" cy="3538728"/>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0"/>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r>
              <a:rPr lang="en-US" dirty="0"/>
              <a:t>Click to edit Master title style</a:t>
            </a:r>
          </a:p>
        </p:txBody>
      </p:sp>
      <p:sp>
        <p:nvSpPr>
          <p:cNvPr id="4" name="Footer Placeholder 3"/>
          <p:cNvSpPr>
            <a:spLocks noGrp="1"/>
          </p:cNvSpPr>
          <p:nvPr>
            <p:ph type="ftr" sz="quarter" idx="10"/>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Footer Placeholder 5"/>
          <p:cNvSpPr>
            <a:spLocks noGrp="1"/>
          </p:cNvSpPr>
          <p:nvPr>
            <p:ph type="ftr" sz="quarter" idx="10"/>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Photo">
    <p:spTree>
      <p:nvGrpSpPr>
        <p:cNvPr id="1" name=""/>
        <p:cNvGrpSpPr/>
        <p:nvPr/>
      </p:nvGrpSpPr>
      <p:grpSpPr>
        <a:xfrm>
          <a:off x="0" y="0"/>
          <a:ext cx="0" cy="0"/>
          <a:chOff x="0" y="0"/>
          <a:chExt cx="0" cy="0"/>
        </a:xfrm>
      </p:grpSpPr>
      <p:sp>
        <p:nvSpPr>
          <p:cNvPr id="5" name="Picture Placeholder 2"/>
          <p:cNvSpPr>
            <a:spLocks noGrp="1" noChangeAspect="1"/>
          </p:cNvSpPr>
          <p:nvPr>
            <p:ph type="pic" idx="13" hasCustomPrompt="1"/>
          </p:nvPr>
        </p:nvSpPr>
        <p:spPr>
          <a:xfrm>
            <a:off x="5098566" y="927100"/>
            <a:ext cx="7093434" cy="59309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a:p>
            <a:r>
              <a:rPr lang="en-US" dirty="0"/>
              <a:t>Drag picture to placeholder or click icon to add</a:t>
            </a:r>
          </a:p>
        </p:txBody>
      </p:sp>
      <p:sp>
        <p:nvSpPr>
          <p:cNvPr id="2" name="Title 1"/>
          <p:cNvSpPr>
            <a:spLocks noGrp="1"/>
          </p:cNvSpPr>
          <p:nvPr>
            <p:ph type="title" hasCustomPrompt="1"/>
          </p:nvPr>
        </p:nvSpPr>
        <p:spPr>
          <a:xfrm>
            <a:off x="566928" y="1499616"/>
            <a:ext cx="4248912" cy="590931"/>
          </a:xfrm>
        </p:spPr>
        <p:txBody>
          <a:bodyPr/>
          <a:lstStyle/>
          <a:p>
            <a:r>
              <a:rPr lang="en-US" dirty="0"/>
              <a:t>Click to edit</a:t>
            </a:r>
          </a:p>
        </p:txBody>
      </p:sp>
      <p:sp>
        <p:nvSpPr>
          <p:cNvPr id="3" name="Content Placeholder 2"/>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4"/>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Three Photo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66928" y="1499616"/>
            <a:ext cx="4248912" cy="590931"/>
          </a:xfrm>
        </p:spPr>
        <p:txBody>
          <a:bodyPr/>
          <a:lstStyle/>
          <a:p>
            <a:r>
              <a:rPr lang="en-US" dirty="0"/>
              <a:t>Click to edit</a:t>
            </a:r>
          </a:p>
        </p:txBody>
      </p:sp>
      <p:sp>
        <p:nvSpPr>
          <p:cNvPr id="3" name="Content Placeholder 2"/>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
          <p:cNvSpPr>
            <a:spLocks noGrp="1" noChangeAspect="1"/>
          </p:cNvSpPr>
          <p:nvPr>
            <p:ph type="pic" idx="13" hasCustomPrompt="1"/>
          </p:nvPr>
        </p:nvSpPr>
        <p:spPr>
          <a:xfrm>
            <a:off x="5114631" y="934720"/>
            <a:ext cx="7077369" cy="3064678"/>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a:p>
            <a:r>
              <a:rPr lang="en-US" dirty="0"/>
              <a:t>Drag picture to placeholder or click icon to add</a:t>
            </a:r>
          </a:p>
        </p:txBody>
      </p:sp>
      <p:sp>
        <p:nvSpPr>
          <p:cNvPr id="8" name="Picture Placeholder 2"/>
          <p:cNvSpPr>
            <a:spLocks noGrp="1" noChangeAspect="1"/>
          </p:cNvSpPr>
          <p:nvPr>
            <p:ph type="pic" idx="14" hasCustomPrompt="1"/>
          </p:nvPr>
        </p:nvSpPr>
        <p:spPr>
          <a:xfrm>
            <a:off x="5114631" y="3998296"/>
            <a:ext cx="360252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a:p>
            <a:r>
              <a:rPr lang="en-US" dirty="0"/>
              <a:t>Drag picture to placeholder or click icon to add</a:t>
            </a:r>
          </a:p>
        </p:txBody>
      </p:sp>
      <p:sp>
        <p:nvSpPr>
          <p:cNvPr id="9" name="Picture Placeholder 2"/>
          <p:cNvSpPr>
            <a:spLocks noGrp="1" noChangeAspect="1"/>
          </p:cNvSpPr>
          <p:nvPr>
            <p:ph type="pic" idx="15" hasCustomPrompt="1"/>
          </p:nvPr>
        </p:nvSpPr>
        <p:spPr>
          <a:xfrm>
            <a:off x="8701089" y="3998296"/>
            <a:ext cx="349091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a:p>
            <a:r>
              <a:rPr lang="en-US" dirty="0"/>
              <a:t>Drag picture to placeholder or click icon to add</a:t>
            </a:r>
          </a:p>
        </p:txBody>
      </p:sp>
      <p:sp>
        <p:nvSpPr>
          <p:cNvPr id="10" name="Footer Placeholder 9"/>
          <p:cNvSpPr>
            <a:spLocks noGrp="1"/>
          </p:cNvSpPr>
          <p:nvPr>
            <p:ph type="ftr" sz="quarter" idx="16"/>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Width Photo">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a:t>
            </a:r>
          </a:p>
        </p:txBody>
      </p:sp>
      <p:sp>
        <p:nvSpPr>
          <p:cNvPr id="3" name="Picture Placeholder 2"/>
          <p:cNvSpPr>
            <a:spLocks noGrp="1" noChangeAspect="1"/>
          </p:cNvSpPr>
          <p:nvPr>
            <p:ph type="pic" idx="13" hasCustomPrompt="1"/>
          </p:nvPr>
        </p:nvSpPr>
        <p:spPr>
          <a:xfrm>
            <a:off x="0" y="927100"/>
            <a:ext cx="12192000" cy="59309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a:p>
            <a:r>
              <a:rPr lang="en-US" dirty="0"/>
              <a:t>Drag picture to placeholder or click icon to add</a:t>
            </a:r>
          </a:p>
        </p:txBody>
      </p:sp>
      <p:sp>
        <p:nvSpPr>
          <p:cNvPr id="5" name="Footer Placeholder 4"/>
          <p:cNvSpPr>
            <a:spLocks noGrp="1"/>
          </p:cNvSpPr>
          <p:nvPr>
            <p:ph type="ftr" sz="quarter" idx="14"/>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66928" y="1499616"/>
            <a:ext cx="4248912" cy="590931"/>
          </a:xfrm>
        </p:spPr>
        <p:txBody>
          <a:bodyPr/>
          <a:lstStyle/>
          <a:p>
            <a:r>
              <a:rPr lang="en-US" dirty="0"/>
              <a:t>Click to edit</a:t>
            </a:r>
          </a:p>
        </p:txBody>
      </p:sp>
      <p:sp>
        <p:nvSpPr>
          <p:cNvPr id="3" name="Content Placeholder 2"/>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hart Placeholder 2"/>
          <p:cNvSpPr>
            <a:spLocks noGrp="1"/>
          </p:cNvSpPr>
          <p:nvPr>
            <p:ph type="chart" sz="quarter" idx="16" hasCustomPrompt="1"/>
          </p:nvPr>
        </p:nvSpPr>
        <p:spPr>
          <a:xfrm>
            <a:off x="5161935" y="1976285"/>
            <a:ext cx="6325152" cy="3967316"/>
          </a:xfrm>
          <a:prstGeom prst="rect">
            <a:avLst/>
          </a:prstGeom>
          <a:solidFill>
            <a:schemeClr val="bg2">
              <a:lumMod val="75000"/>
            </a:schemeClr>
          </a:solidFill>
          <a:ln>
            <a:noFill/>
          </a:ln>
        </p:spPr>
        <p:style>
          <a:lnRef idx="1">
            <a:schemeClr val="accent3"/>
          </a:lnRef>
          <a:fillRef idx="2">
            <a:schemeClr val="accent3"/>
          </a:fillRef>
          <a:effectRef idx="1">
            <a:schemeClr val="accent3"/>
          </a:effectRef>
          <a:fontRef idx="none"/>
        </p:style>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sz="1600" baseline="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endParaRPr lang="en-US" dirty="0"/>
          </a:p>
          <a:p>
            <a:r>
              <a:rPr lang="en-US" dirty="0"/>
              <a:t>Drag chart to placeholder or click icon to add chart</a:t>
            </a:r>
          </a:p>
          <a:p>
            <a:endParaRPr lang="en-US" dirty="0"/>
          </a:p>
        </p:txBody>
      </p:sp>
      <p:sp>
        <p:nvSpPr>
          <p:cNvPr id="8" name="Footer Placeholder 7"/>
          <p:cNvSpPr>
            <a:spLocks noGrp="1"/>
          </p:cNvSpPr>
          <p:nvPr>
            <p:ph type="ftr" sz="quarter" idx="17"/>
          </p:nvPr>
        </p:nvSpPr>
        <p:spPr/>
        <p:txBody>
          <a:bodyPr/>
          <a:lstStyle/>
          <a:p>
            <a:fld id="{EB53C135-CEC6-A548-8917-8F7FEB82358B}"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6928" y="1499616"/>
            <a:ext cx="10515600" cy="590931"/>
          </a:xfrm>
          <a:prstGeom prst="rect">
            <a:avLst/>
          </a:prstGeom>
        </p:spPr>
        <p:txBody>
          <a:bodyPr vert="horz" lIns="91440" tIns="45720" rIns="91440" bIns="45720" rtlCol="0" anchor="b" anchorCtr="0">
            <a:spAutoFit/>
          </a:bodyPr>
          <a:lstStyle/>
          <a:p>
            <a:r>
              <a:rPr lang="en-US" dirty="0"/>
              <a:t>Click to edit Master title style</a:t>
            </a:r>
          </a:p>
        </p:txBody>
      </p:sp>
      <p:sp>
        <p:nvSpPr>
          <p:cNvPr id="3" name="Text Placeholder 2"/>
          <p:cNvSpPr>
            <a:spLocks noGrp="1"/>
          </p:cNvSpPr>
          <p:nvPr>
            <p:ph type="body" idx="1"/>
          </p:nvPr>
        </p:nvSpPr>
        <p:spPr>
          <a:xfrm>
            <a:off x="566928" y="2185416"/>
            <a:ext cx="10515600" cy="3968249"/>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University at Buffalo, The State University of New York logo"/>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355600" y="321146"/>
            <a:ext cx="4800600" cy="356029"/>
          </a:xfrm>
          <a:prstGeom prst="rect">
            <a:avLst/>
          </a:prstGeom>
        </p:spPr>
      </p:pic>
      <p:sp>
        <p:nvSpPr>
          <p:cNvPr id="5" name="Footer Placeholder 4"/>
          <p:cNvSpPr>
            <a:spLocks noGrp="1"/>
          </p:cNvSpPr>
          <p:nvPr>
            <p:ph type="ftr" sz="quarter" idx="3"/>
          </p:nvPr>
        </p:nvSpPr>
        <p:spPr>
          <a:xfrm>
            <a:off x="7574280" y="6319774"/>
            <a:ext cx="4114800" cy="365125"/>
          </a:xfrm>
          <a:prstGeom prst="rect">
            <a:avLst/>
          </a:prstGeom>
        </p:spPr>
        <p:txBody>
          <a:bodyPr vert="horz" lIns="91440" tIns="45720" rIns="91440" bIns="45720" rtlCol="0" anchor="ctr"/>
          <a:lstStyle>
            <a:lvl1pPr algn="r">
              <a:defRPr sz="1600" b="1">
                <a:solidFill>
                  <a:schemeClr val="tx1"/>
                </a:solidFill>
              </a:defRPr>
            </a:lvl1pPr>
          </a:lstStyle>
          <a:p>
            <a:fld id="{EB53C135-CEC6-A548-8917-8F7FEB82358B}"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3600" b="0" i="0" kern="1200">
          <a:solidFill>
            <a:schemeClr val="tx2"/>
          </a:solidFill>
          <a:latin typeface="Georgia" panose="02040502050405020303" pitchFamily="18" charset="0"/>
          <a:ea typeface="+mj-ea"/>
          <a:cs typeface="+mj-cs"/>
        </a:defRPr>
      </a:lvl1pPr>
    </p:titleStyle>
    <p:body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resentation Title"/>
          <p:cNvSpPr>
            <a:spLocks noGrp="1"/>
          </p:cNvSpPr>
          <p:nvPr>
            <p:ph type="ctrTitle"/>
          </p:nvPr>
        </p:nvSpPr>
        <p:spPr>
          <a:xfrm>
            <a:off x="240665" y="436245"/>
            <a:ext cx="7097395" cy="3479165"/>
          </a:xfrm>
        </p:spPr>
        <p:txBody>
          <a:bodyPr/>
          <a:lstStyle/>
          <a:p>
            <a:pPr algn="ctr"/>
            <a:r>
              <a:rPr lang="en-IN" sz="4400" dirty="0"/>
              <a:t>PASSIVE COOLING FOR HOMES</a:t>
            </a:r>
            <a:endParaRPr lang="en-IN" altLang="en-US" sz="4400" dirty="0"/>
          </a:p>
        </p:txBody>
      </p:sp>
      <p:sp>
        <p:nvSpPr>
          <p:cNvPr id="8" name="Rectangle 7"/>
          <p:cNvSpPr/>
          <p:nvPr/>
        </p:nvSpPr>
        <p:spPr>
          <a:xfrm>
            <a:off x="7092315" y="1015365"/>
            <a:ext cx="5099685" cy="5842635"/>
          </a:xfrm>
          <a:prstGeom prst="rect">
            <a:avLst/>
          </a:prstGeom>
          <a:solidFill>
            <a:schemeClr val="accent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1300" y="1590675"/>
            <a:ext cx="3374390" cy="34798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0" y="5924991"/>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p:cNvSpPr>
            <a:spLocks noGrp="1"/>
          </p:cNvSpPr>
          <p:nvPr>
            <p:ph type="title"/>
          </p:nvPr>
        </p:nvSpPr>
        <p:spPr>
          <a:xfrm>
            <a:off x="566928" y="1677322"/>
            <a:ext cx="6951472" cy="535531"/>
          </a:xfrm>
        </p:spPr>
        <p:txBody>
          <a:bodyPr/>
          <a:lstStyle/>
          <a:p>
            <a:r>
              <a:rPr lang="en-IN" sz="3200" dirty="0"/>
              <a:t>PASSIVE COOLING FOR HOMES</a:t>
            </a:r>
            <a:endParaRPr lang="en-IN" altLang="en-US" sz="3200" dirty="0"/>
          </a:p>
        </p:txBody>
      </p:sp>
      <p:sp>
        <p:nvSpPr>
          <p:cNvPr id="16" name="Slide Number"/>
          <p:cNvSpPr>
            <a:spLocks noGrp="1"/>
          </p:cNvSpPr>
          <p:nvPr>
            <p:ph type="ftr" sz="quarter" idx="10"/>
          </p:nvPr>
        </p:nvSpPr>
        <p:spPr/>
        <p:txBody>
          <a:bodyPr/>
          <a:lstStyle/>
          <a:p>
            <a:fld id="{2E1B3BED-EDDA-2E42-813F-F157009AF3C2}" type="slidenum">
              <a:rPr lang="en-US" smtClean="0"/>
              <a:t>2</a:t>
            </a:fld>
            <a:endParaRPr lang="en-US" dirty="0"/>
          </a:p>
        </p:txBody>
      </p:sp>
      <p:sp>
        <p:nvSpPr>
          <p:cNvPr id="9" name="Content Placeholder 8"/>
          <p:cNvSpPr>
            <a:spLocks noGrp="1"/>
          </p:cNvSpPr>
          <p:nvPr>
            <p:ph idx="1"/>
          </p:nvPr>
        </p:nvSpPr>
        <p:spPr>
          <a:xfrm>
            <a:off x="566928" y="2464752"/>
            <a:ext cx="10799411" cy="3968249"/>
          </a:xfrm>
        </p:spPr>
        <p:txBody>
          <a:bodyPr/>
          <a:lstStyle/>
          <a:p>
            <a:r>
              <a:rPr lang="en-US" sz="2000" dirty="0"/>
              <a:t>Passive Cooling for Homes is an energy-efficient and sustainable solution designed to reduce indoor temperature without depending on conventional air-conditioning systems. The project utilizes passive cooling techniques such as reflective roofing, thermal insulation, natural ventilation, and shading to improve indoor thermal comfort.</a:t>
            </a:r>
          </a:p>
          <a:p>
            <a:r>
              <a:rPr lang="en-US" sz="2000" dirty="0"/>
              <a:t>An ESP32-based monitoring system with DS18B20 temperature sensors continuously records indoor and outdoor temperatures, enabling performance analysis and validation of the cooling effectiveness.</a:t>
            </a:r>
          </a:p>
          <a:p>
            <a:pPr marL="0" indent="0" algn="just">
              <a:buNone/>
            </a:pPr>
            <a:endParaRPr lang="en-US" altLang="en-GB" sz="2000" dirty="0"/>
          </a:p>
          <a:p>
            <a:pPr marL="0" indent="0" algn="just">
              <a:buNone/>
            </a:pPr>
            <a:endParaRPr lang="en-US" altLang="en-GB" sz="2000" dirty="0"/>
          </a:p>
        </p:txBody>
      </p:sp>
      <p:sp>
        <p:nvSpPr>
          <p:cNvPr id="10" name="Rectangle 9"/>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11"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p:cNvSpPr>
            <a:spLocks noGrp="1"/>
          </p:cNvSpPr>
          <p:nvPr>
            <p:ph type="title"/>
          </p:nvPr>
        </p:nvSpPr>
        <p:spPr>
          <a:xfrm>
            <a:off x="618998" y="1330071"/>
            <a:ext cx="10515600" cy="590931"/>
          </a:xfrm>
        </p:spPr>
        <p:txBody>
          <a:bodyPr/>
          <a:lstStyle/>
          <a:p>
            <a:r>
              <a:rPr lang="en-US" dirty="0"/>
              <a:t>Double Content Slide</a:t>
            </a:r>
          </a:p>
        </p:txBody>
      </p:sp>
      <p:sp>
        <p:nvSpPr>
          <p:cNvPr id="3" name="Side Text - Column 1"/>
          <p:cNvSpPr>
            <a:spLocks noGrp="1"/>
          </p:cNvSpPr>
          <p:nvPr>
            <p:ph sz="half" idx="1"/>
          </p:nvPr>
        </p:nvSpPr>
        <p:spPr>
          <a:xfrm>
            <a:off x="816483" y="2017141"/>
            <a:ext cx="4498848" cy="4667758"/>
          </a:xfrm>
        </p:spPr>
        <p:txBody>
          <a:bodyPr/>
          <a:lstStyle/>
          <a:p>
            <a:pPr marL="0" indent="0">
              <a:buNone/>
            </a:pPr>
            <a:r>
              <a:rPr lang="en-US" sz="2000" b="1" dirty="0"/>
              <a:t>Technical Architecture Our system</a:t>
            </a:r>
          </a:p>
          <a:p>
            <a:pPr marL="0" indent="0" algn="just">
              <a:buNone/>
            </a:pPr>
            <a:r>
              <a:rPr lang="en-US" b="1" dirty="0"/>
              <a:t> </a:t>
            </a:r>
            <a:r>
              <a:rPr lang="en-US" dirty="0"/>
              <a:t>The prototype consists of a residential house model constructed using thermally stable materials. It incorporates reflective roof surfaces, </a:t>
            </a:r>
            <a:r>
              <a:rPr lang="en-US" dirty="0" err="1"/>
              <a:t>thermocol</a:t>
            </a:r>
            <a:r>
              <a:rPr lang="en-US" dirty="0"/>
              <a:t> insulation, strategically placed ventilation openings, and shading elements. Two DS18B20 temperature sensors connected to an ESP32 microcontroller monitor indoor and outdoor temperatures. A DS3231 RTC module provides time synchronization, while an SD card module stores temperature data for analysis. </a:t>
            </a:r>
            <a:endParaRPr lang="en-US" altLang="en-GB" dirty="0"/>
          </a:p>
        </p:txBody>
      </p:sp>
      <p:sp>
        <p:nvSpPr>
          <p:cNvPr id="4" name="Side Text - Column 2"/>
          <p:cNvSpPr>
            <a:spLocks noGrp="1"/>
          </p:cNvSpPr>
          <p:nvPr>
            <p:ph sz="half" idx="2"/>
          </p:nvPr>
        </p:nvSpPr>
        <p:spPr>
          <a:xfrm>
            <a:off x="6083935" y="2017141"/>
            <a:ext cx="4498848" cy="3950208"/>
          </a:xfrm>
        </p:spPr>
        <p:txBody>
          <a:bodyPr/>
          <a:lstStyle/>
          <a:p>
            <a:pPr marL="0" indent="0">
              <a:buNone/>
            </a:pPr>
            <a:r>
              <a:rPr lang="en-US" sz="2000" b="1" dirty="0"/>
              <a:t>User Value &amp; Impact</a:t>
            </a:r>
          </a:p>
          <a:p>
            <a:pPr marL="0" indent="0" algn="just">
              <a:buNone/>
            </a:pPr>
            <a:r>
              <a:rPr lang="en-US" dirty="0"/>
              <a:t>The system offers a low-cost, environmentally friendly alternative to conventional cooling systems. It reduces electricity consumption, minimizes greenhouse gas emissions, and improves thermal comfort. The design is especially suitable for tropical regions, rural housing, and sustainable residential applications.</a:t>
            </a:r>
          </a:p>
        </p:txBody>
      </p:sp>
      <p:sp>
        <p:nvSpPr>
          <p:cNvPr id="15" name="Slide Number"/>
          <p:cNvSpPr>
            <a:spLocks noGrp="1"/>
          </p:cNvSpPr>
          <p:nvPr>
            <p:ph type="ftr" sz="quarter" idx="10"/>
          </p:nvPr>
        </p:nvSpPr>
        <p:spPr/>
        <p:txBody>
          <a:bodyPr/>
          <a:lstStyle/>
          <a:p>
            <a:fld id="{7FF4D5E0-956F-9742-9135-6CCBA6AE77D9}" type="slidenum">
              <a:rPr lang="en-US" smtClean="0"/>
              <a:t>3</a:t>
            </a:fld>
            <a:endParaRPr lang="en-US" dirty="0"/>
          </a:p>
        </p:txBody>
      </p:sp>
      <p:sp>
        <p:nvSpPr>
          <p:cNvPr id="5" name="Rectangle 4"/>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p:cNvSpPr>
            <a:spLocks noGrp="1"/>
          </p:cNvSpPr>
          <p:nvPr>
            <p:ph type="title"/>
          </p:nvPr>
        </p:nvSpPr>
        <p:spPr>
          <a:xfrm>
            <a:off x="566928" y="1204150"/>
            <a:ext cx="6951472" cy="590931"/>
          </a:xfrm>
        </p:spPr>
        <p:txBody>
          <a:bodyPr/>
          <a:lstStyle/>
          <a:p>
            <a:r>
              <a:rPr lang="en-US" dirty="0"/>
              <a:t>Bulleted List Slide</a:t>
            </a:r>
          </a:p>
        </p:txBody>
      </p:sp>
      <p:sp>
        <p:nvSpPr>
          <p:cNvPr id="8" name="Slide Number"/>
          <p:cNvSpPr>
            <a:spLocks noGrp="1"/>
          </p:cNvSpPr>
          <p:nvPr>
            <p:ph type="ftr" sz="quarter" idx="10"/>
          </p:nvPr>
        </p:nvSpPr>
        <p:spPr/>
        <p:txBody>
          <a:bodyPr/>
          <a:lstStyle/>
          <a:p>
            <a:fld id="{FF97EF4A-40C6-024D-A945-B03D1BBD02F7}" type="slidenum">
              <a:rPr lang="en-US" smtClean="0"/>
              <a:t>4</a:t>
            </a:fld>
            <a:endParaRPr lang="en-US" dirty="0"/>
          </a:p>
        </p:txBody>
      </p:sp>
      <p:sp>
        <p:nvSpPr>
          <p:cNvPr id="5" name="Content Placeholder 4"/>
          <p:cNvSpPr>
            <a:spLocks noGrp="1"/>
          </p:cNvSpPr>
          <p:nvPr>
            <p:ph idx="1"/>
          </p:nvPr>
        </p:nvSpPr>
        <p:spPr>
          <a:xfrm>
            <a:off x="622808" y="1942348"/>
            <a:ext cx="10488888" cy="3968249"/>
          </a:xfrm>
        </p:spPr>
        <p:txBody>
          <a:bodyPr/>
          <a:lstStyle/>
          <a:p>
            <a:r>
              <a:rPr lang="en-IN" sz="2000" dirty="0"/>
              <a:t>Passive cooling without air conditioning </a:t>
            </a:r>
          </a:p>
          <a:p>
            <a:r>
              <a:rPr lang="en-IN" sz="2000" dirty="0"/>
              <a:t>Natural ventilation for heat dissipation </a:t>
            </a:r>
          </a:p>
          <a:p>
            <a:r>
              <a:rPr lang="en-IN" sz="2000" dirty="0"/>
              <a:t>Reflective roofing reduces solar heat absorption </a:t>
            </a:r>
          </a:p>
          <a:p>
            <a:r>
              <a:rPr lang="en-IN" sz="2000" dirty="0"/>
              <a:t>Thermal insulation minimizes heat transfer </a:t>
            </a:r>
          </a:p>
          <a:p>
            <a:r>
              <a:rPr lang="en-IN" sz="2000" dirty="0"/>
              <a:t>Low energy consumption </a:t>
            </a:r>
          </a:p>
          <a:p>
            <a:r>
              <a:rPr lang="en-IN" sz="2000" dirty="0"/>
              <a:t>Eco-friendly and sustainable design </a:t>
            </a:r>
          </a:p>
          <a:p>
            <a:r>
              <a:rPr lang="en-IN" sz="2000" dirty="0"/>
              <a:t>Real-time temperature monitoring using ESP32 </a:t>
            </a:r>
          </a:p>
          <a:p>
            <a:r>
              <a:rPr lang="en-IN" sz="2000" dirty="0"/>
              <a:t>Suitable for tropical and high-temperature regions </a:t>
            </a:r>
          </a:p>
        </p:txBody>
      </p:sp>
      <p:sp>
        <p:nvSpPr>
          <p:cNvPr id="6" name="Rectangle 5"/>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7"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Title"/>
          <p:cNvSpPr>
            <a:spLocks noGrp="1"/>
          </p:cNvSpPr>
          <p:nvPr>
            <p:ph type="title"/>
          </p:nvPr>
        </p:nvSpPr>
        <p:spPr>
          <a:xfrm>
            <a:off x="566928" y="1203897"/>
            <a:ext cx="10515600" cy="590931"/>
          </a:xfrm>
        </p:spPr>
        <p:txBody>
          <a:bodyPr/>
          <a:lstStyle/>
          <a:p>
            <a:r>
              <a:rPr lang="en-US" dirty="0"/>
              <a:t>Comparison Slide</a:t>
            </a:r>
          </a:p>
        </p:txBody>
      </p:sp>
      <p:sp>
        <p:nvSpPr>
          <p:cNvPr id="13" name="Compare Section"/>
          <p:cNvSpPr>
            <a:spLocks noGrp="1"/>
          </p:cNvSpPr>
          <p:nvPr>
            <p:ph type="body" idx="1"/>
          </p:nvPr>
        </p:nvSpPr>
        <p:spPr>
          <a:xfrm>
            <a:off x="566928" y="2039567"/>
            <a:ext cx="5138928" cy="450829"/>
          </a:xfrm>
        </p:spPr>
        <p:txBody>
          <a:bodyPr/>
          <a:lstStyle/>
          <a:p>
            <a:r>
              <a:rPr lang="en-US" sz="2000" dirty="0"/>
              <a:t>Compare Section</a:t>
            </a:r>
          </a:p>
        </p:txBody>
      </p:sp>
      <p:sp>
        <p:nvSpPr>
          <p:cNvPr id="14" name="Compare Section - Text"/>
          <p:cNvSpPr>
            <a:spLocks noGrp="1"/>
          </p:cNvSpPr>
          <p:nvPr>
            <p:ph sz="half" idx="2"/>
          </p:nvPr>
        </p:nvSpPr>
        <p:spPr>
          <a:xfrm>
            <a:off x="566928" y="2509117"/>
            <a:ext cx="5140515" cy="3535744"/>
          </a:xfrm>
        </p:spPr>
        <p:txBody>
          <a:bodyPr/>
          <a:lstStyle/>
          <a:p>
            <a:pPr marL="0" indent="0">
              <a:spcAft>
                <a:spcPts val="600"/>
              </a:spcAft>
              <a:buNone/>
            </a:pPr>
            <a:r>
              <a:rPr lang="en-US" sz="2000" dirty="0"/>
              <a:t>Like conventional cooling systems, the Passive Cooling System improves indoor thermal comfort by lowering room temperature and maintaining a more stable indoor environment. It enhances occupant comfort during hot weather conditions.</a:t>
            </a:r>
            <a:endParaRPr lang="en-US" altLang="en-GB" sz="2000" dirty="0"/>
          </a:p>
        </p:txBody>
      </p:sp>
      <p:sp>
        <p:nvSpPr>
          <p:cNvPr id="15" name="Contrast Section"/>
          <p:cNvSpPr>
            <a:spLocks noGrp="1"/>
          </p:cNvSpPr>
          <p:nvPr>
            <p:ph type="body" sz="quarter" idx="3"/>
          </p:nvPr>
        </p:nvSpPr>
        <p:spPr>
          <a:xfrm>
            <a:off x="6172200" y="2037779"/>
            <a:ext cx="5138928" cy="450829"/>
          </a:xfrm>
        </p:spPr>
        <p:txBody>
          <a:bodyPr/>
          <a:lstStyle/>
          <a:p>
            <a:r>
              <a:rPr lang="en-US" sz="2000" dirty="0"/>
              <a:t>Contrast Section</a:t>
            </a:r>
          </a:p>
        </p:txBody>
      </p:sp>
      <p:sp>
        <p:nvSpPr>
          <p:cNvPr id="16" name="Contrast Section - Text"/>
          <p:cNvSpPr>
            <a:spLocks noGrp="1"/>
          </p:cNvSpPr>
          <p:nvPr>
            <p:ph sz="quarter" idx="4"/>
          </p:nvPr>
        </p:nvSpPr>
        <p:spPr>
          <a:xfrm>
            <a:off x="6172200" y="2506133"/>
            <a:ext cx="5138928" cy="3538728"/>
          </a:xfrm>
        </p:spPr>
        <p:txBody>
          <a:bodyPr/>
          <a:lstStyle/>
          <a:p>
            <a:pPr marL="0" indent="0">
              <a:buNone/>
            </a:pPr>
            <a:r>
              <a:rPr lang="en-US" sz="2000" dirty="0"/>
              <a:t>Unlike air conditioners, this system consumes little to no electrical energy for cooling and does not use refrigerants. It combines reflective materials, insulation, and natural ventilation to provide a cost-effective and sustainable cooling solution with significantly lower operating costs. </a:t>
            </a:r>
            <a:endParaRPr lang="en-US" altLang="en-GB" sz="2000" dirty="0"/>
          </a:p>
        </p:txBody>
      </p:sp>
      <p:sp>
        <p:nvSpPr>
          <p:cNvPr id="23" name="Slide Number"/>
          <p:cNvSpPr>
            <a:spLocks noGrp="1"/>
          </p:cNvSpPr>
          <p:nvPr>
            <p:ph type="ftr" sz="quarter" idx="10"/>
          </p:nvPr>
        </p:nvSpPr>
        <p:spPr/>
        <p:txBody>
          <a:bodyPr/>
          <a:lstStyle/>
          <a:p>
            <a:fld id="{11612D8C-0CE2-8F48-B865-A1C7EEB20945}" type="slidenum">
              <a:rPr lang="en-US" smtClean="0"/>
              <a:t>5</a:t>
            </a:fld>
            <a:endParaRPr lang="en-US" dirty="0"/>
          </a:p>
        </p:txBody>
      </p:sp>
      <p:sp>
        <p:nvSpPr>
          <p:cNvPr id="2" name="Rectangle 1"/>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3"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Title"/>
          <p:cNvSpPr>
            <a:spLocks noGrp="1"/>
          </p:cNvSpPr>
          <p:nvPr>
            <p:ph type="title"/>
          </p:nvPr>
        </p:nvSpPr>
        <p:spPr>
          <a:xfrm>
            <a:off x="566928" y="1154754"/>
            <a:ext cx="4248912" cy="590931"/>
          </a:xfrm>
        </p:spPr>
        <p:txBody>
          <a:bodyPr/>
          <a:lstStyle/>
          <a:p>
            <a:r>
              <a:rPr lang="en-US" dirty="0"/>
              <a:t>Prototype</a:t>
            </a:r>
          </a:p>
        </p:txBody>
      </p:sp>
      <p:sp>
        <p:nvSpPr>
          <p:cNvPr id="3" name="Slide Text"/>
          <p:cNvSpPr>
            <a:spLocks noGrp="1"/>
          </p:cNvSpPr>
          <p:nvPr>
            <p:ph idx="1"/>
          </p:nvPr>
        </p:nvSpPr>
        <p:spPr>
          <a:xfrm>
            <a:off x="465455" y="1766570"/>
            <a:ext cx="4952365" cy="3968115"/>
          </a:xfrm>
        </p:spPr>
        <p:txBody>
          <a:bodyPr/>
          <a:lstStyle/>
          <a:p>
            <a:pPr marL="0" indent="0">
              <a:spcAft>
                <a:spcPts val="600"/>
              </a:spcAft>
              <a:buNone/>
            </a:pPr>
            <a:r>
              <a:rPr lang="en-US" dirty="0"/>
              <a:t>The developed prototype demonstrates a small-scale residential building model integrated with passive cooling elements. Reflective roofing minimizes heat absorption, </a:t>
            </a:r>
            <a:r>
              <a:rPr lang="en-US" dirty="0" err="1"/>
              <a:t>thermocol</a:t>
            </a:r>
            <a:r>
              <a:rPr lang="en-US" dirty="0"/>
              <a:t> insulation reduces conductive heat transfer, and ventilation openings facilitate natural airflow. Temperature sensors continuously measure indoor and outdoor conditions to validate the effectiveness of the passive cooling techniques implemented in the prototype. </a:t>
            </a:r>
          </a:p>
          <a:p>
            <a:pPr marL="0" indent="0">
              <a:spcAft>
                <a:spcPts val="600"/>
              </a:spcAft>
              <a:buNone/>
            </a:pPr>
            <a:r>
              <a:rPr lang="en-US" altLang="en-GB" dirty="0"/>
              <a:t>.</a:t>
            </a:r>
          </a:p>
        </p:txBody>
      </p:sp>
      <p:sp>
        <p:nvSpPr>
          <p:cNvPr id="5" name="Rectangle 4"/>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697D4E6-45CB-48DA-9042-2E998715526D}"/>
              </a:ext>
            </a:extLst>
          </p:cNvPr>
          <p:cNvPicPr>
            <a:picLocks noChangeAspect="1"/>
          </p:cNvPicPr>
          <p:nvPr/>
        </p:nvPicPr>
        <p:blipFill>
          <a:blip r:embed="rId3"/>
          <a:stretch>
            <a:fillRect/>
          </a:stretch>
        </p:blipFill>
        <p:spPr>
          <a:xfrm>
            <a:off x="6423778" y="2254838"/>
            <a:ext cx="4501888" cy="29915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p:cNvSpPr>
            <a:spLocks noGrp="1"/>
          </p:cNvSpPr>
          <p:nvPr>
            <p:ph type="title"/>
          </p:nvPr>
        </p:nvSpPr>
        <p:spPr>
          <a:xfrm>
            <a:off x="567055" y="1353820"/>
            <a:ext cx="5429250" cy="589280"/>
          </a:xfrm>
        </p:spPr>
        <p:txBody>
          <a:bodyPr wrap="square"/>
          <a:lstStyle/>
          <a:p>
            <a:r>
              <a:rPr lang="en-IN" altLang="en-US" dirty="0"/>
              <a:t>Performance breakdown</a:t>
            </a:r>
          </a:p>
        </p:txBody>
      </p:sp>
      <p:sp>
        <p:nvSpPr>
          <p:cNvPr id="7" name="Slide Number"/>
          <p:cNvSpPr>
            <a:spLocks noGrp="1"/>
          </p:cNvSpPr>
          <p:nvPr>
            <p:ph type="ftr" sz="quarter" idx="17"/>
          </p:nvPr>
        </p:nvSpPr>
        <p:spPr/>
        <p:txBody>
          <a:bodyPr/>
          <a:lstStyle/>
          <a:p>
            <a:fld id="{85954F8D-B7E6-D640-BC50-D014E954A05D}" type="slidenum">
              <a:rPr lang="en-US" smtClean="0"/>
              <a:t>7</a:t>
            </a:fld>
            <a:endParaRPr lang="en-US" dirty="0"/>
          </a:p>
        </p:txBody>
      </p:sp>
      <p:sp>
        <p:nvSpPr>
          <p:cNvPr id="21" name="Rectangle 20"/>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8">
            <a:extLst>
              <a:ext uri="{FF2B5EF4-FFF2-40B4-BE49-F238E27FC236}">
                <a16:creationId xmlns:a16="http://schemas.microsoft.com/office/drawing/2014/main" id="{24F63DA6-E37C-40F5-913A-6B70D95FFB0E}"/>
              </a:ext>
            </a:extLst>
          </p:cNvPr>
          <p:cNvSpPr>
            <a:spLocks noGrp="1" noChangeArrowheads="1"/>
          </p:cNvSpPr>
          <p:nvPr>
            <p:ph idx="1"/>
          </p:nvPr>
        </p:nvSpPr>
        <p:spPr bwMode="auto">
          <a:xfrm>
            <a:off x="524634" y="1911888"/>
            <a:ext cx="4863101" cy="4473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Indoor temperature reduction: Approximately </a:t>
            </a:r>
            <a:r>
              <a:rPr kumimoji="0" lang="en-US" altLang="en-US" sz="1800" i="0" u="none" strike="noStrike" cap="none" normalizeH="0" baseline="0" dirty="0">
                <a:ln>
                  <a:noFill/>
                </a:ln>
                <a:solidFill>
                  <a:schemeClr val="tx1"/>
                </a:solidFill>
                <a:effectLst/>
                <a:latin typeface="Arial" panose="020B0604020202020204" pitchFamily="34" charset="0"/>
              </a:rPr>
              <a:t>5–7°C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Cooling method: Passive cooling (ventilation + insulation + reflective surfaces)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Energy consumption: Minimal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Temperature monitoring: ESP32 with DS18B20 sensors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logging: RTC + SD Card Module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Application: Sustainable residential cooling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Suitable climate: Tropical and hot regions </a:t>
            </a:r>
          </a:p>
        </p:txBody>
      </p:sp>
      <p:pic>
        <p:nvPicPr>
          <p:cNvPr id="19" name="Picture 18">
            <a:extLst>
              <a:ext uri="{FF2B5EF4-FFF2-40B4-BE49-F238E27FC236}">
                <a16:creationId xmlns:a16="http://schemas.microsoft.com/office/drawing/2014/main" id="{C488B568-B128-4161-8CC3-8D120A31BB24}"/>
              </a:ext>
            </a:extLst>
          </p:cNvPr>
          <p:cNvPicPr>
            <a:picLocks noChangeAspect="1"/>
          </p:cNvPicPr>
          <p:nvPr/>
        </p:nvPicPr>
        <p:blipFill rotWithShape="1">
          <a:blip r:embed="rId3"/>
          <a:srcRect t="9819" b="7167"/>
          <a:stretch/>
        </p:blipFill>
        <p:spPr>
          <a:xfrm>
            <a:off x="6995080" y="1976095"/>
            <a:ext cx="4716825" cy="440881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cNvSpPr>
            <a:spLocks noGrp="1"/>
          </p:cNvSpPr>
          <p:nvPr>
            <p:ph type="ftr" sz="quarter" idx="10"/>
          </p:nvPr>
        </p:nvSpPr>
        <p:spPr/>
        <p:txBody>
          <a:bodyPr/>
          <a:lstStyle/>
          <a:p>
            <a:fld id="{EB53C135-CEC6-A548-8917-8F7FEB82358B}" type="slidenum">
              <a:rPr lang="en-US" smtClean="0"/>
              <a:t>8</a:t>
            </a:fld>
            <a:endParaRPr lang="en-US" dirty="0"/>
          </a:p>
        </p:txBody>
      </p:sp>
      <p:sp>
        <p:nvSpPr>
          <p:cNvPr id="56" name="Content Placeholder 55"/>
          <p:cNvSpPr>
            <a:spLocks noGrp="1"/>
          </p:cNvSpPr>
          <p:nvPr>
            <p:ph idx="1"/>
          </p:nvPr>
        </p:nvSpPr>
        <p:spPr>
          <a:xfrm>
            <a:off x="644424" y="2090547"/>
            <a:ext cx="10137875" cy="3968249"/>
          </a:xfrm>
        </p:spPr>
        <p:txBody>
          <a:bodyPr/>
          <a:lstStyle/>
          <a:p>
            <a:pPr marL="0" indent="0">
              <a:buNone/>
            </a:pPr>
            <a:r>
              <a:rPr lang="en-IN" sz="2000" b="1" dirty="0"/>
              <a:t>COOLING HOMES, SAVING ENERGY</a:t>
            </a:r>
          </a:p>
          <a:p>
            <a:pPr marL="0" indent="0">
              <a:buNone/>
            </a:pPr>
            <a:r>
              <a:rPr lang="en-US" sz="2000" dirty="0"/>
              <a:t>The Passive Cooling System for Homes demonstrates that indoor thermal comfort can be achieved through simple engineering principles and sustainable design techniques. By combining reflective roofing, thermal insulation, natural ventilation, and real-time temperature monitoring, the system effectively reduces indoor temperature while minimizing energy consumption. This project provides a practical, economical, and environmentally responsible solution for residential buildings in hot climatic regions. </a:t>
            </a:r>
            <a:endParaRPr lang="en-US" altLang="en-GB" sz="2000" dirty="0"/>
          </a:p>
        </p:txBody>
      </p:sp>
      <p:sp>
        <p:nvSpPr>
          <p:cNvPr id="58" name="Title 57"/>
          <p:cNvSpPr>
            <a:spLocks noGrp="1"/>
          </p:cNvSpPr>
          <p:nvPr>
            <p:ph type="title"/>
          </p:nvPr>
        </p:nvSpPr>
        <p:spPr/>
        <p:txBody>
          <a:bodyPr/>
          <a:lstStyle/>
          <a:p>
            <a:r>
              <a:rPr lang="en-IN" dirty="0"/>
              <a:t>CONCLUSION</a:t>
            </a:r>
          </a:p>
        </p:txBody>
      </p:sp>
      <p:sp>
        <p:nvSpPr>
          <p:cNvPr id="59" name="Rectangle 58"/>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0"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565</Words>
  <Application>Microsoft Office PowerPoint</Application>
  <PresentationFormat>Widescreen</PresentationFormat>
  <Paragraphs>52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Regular</vt:lpstr>
      <vt:lpstr>Georgia</vt:lpstr>
      <vt:lpstr>System Font Regular</vt:lpstr>
      <vt:lpstr>Office Theme</vt:lpstr>
      <vt:lpstr>PASSIVE COOLING FOR HOMES</vt:lpstr>
      <vt:lpstr>PASSIVE COOLING FOR HOMES</vt:lpstr>
      <vt:lpstr>Double Content Slide</vt:lpstr>
      <vt:lpstr>Bulleted List Slide</vt:lpstr>
      <vt:lpstr>Comparison Slide</vt:lpstr>
      <vt:lpstr>Prototype</vt:lpstr>
      <vt:lpstr>Performance breakdown</vt:lpstr>
      <vt:lpstr>CONCLUSION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PowerPoint Presentation</dc:title>
  <dc:creator>Division of University Communications</dc:creator>
  <cp:lastModifiedBy>HP</cp:lastModifiedBy>
  <cp:revision>81</cp:revision>
  <dcterms:created xsi:type="dcterms:W3CDTF">2019-04-04T19:20:00Z</dcterms:created>
  <dcterms:modified xsi:type="dcterms:W3CDTF">2026-07-28T09:22:41Z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4C342E4BBCFE41E283F72596553517D2_13</vt:lpwstr>
  </property>
  <property fmtid="{D5CDD505-2E9C-101B-9397-08002B2CF9AE}" pid="3" name="KSOProductBuildVer">
    <vt:lpwstr>2057-12.2.0.23206</vt:lpwstr>
  </property>
</Properties>
</file>